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Roboto"/>
      <p:regular r:id="rId26"/>
      <p:bold r:id="rId27"/>
      <p:italic r:id="rId28"/>
      <p:boldItalic r:id="rId29"/>
    </p:embeddedFont>
    <p:embeddedFont>
      <p:font typeface="Roboto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6FDAE1-CDB2-4477-AFFD-8F39B86778E5}">
  <a:tblStyle styleId="{316FDAE1-CDB2-4477-AFFD-8F39B86778E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regular.fntdata"/><Relationship Id="rId25" Type="http://schemas.openxmlformats.org/officeDocument/2006/relationships/slide" Target="slides/slide19.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bold.fntdata"/><Relationship Id="rId30" Type="http://schemas.openxmlformats.org/officeDocument/2006/relationships/font" Target="fonts/RobotoMono-regular.fntdata"/><Relationship Id="rId11" Type="http://schemas.openxmlformats.org/officeDocument/2006/relationships/slide" Target="slides/slide5.xml"/><Relationship Id="rId33" Type="http://schemas.openxmlformats.org/officeDocument/2006/relationships/font" Target="fonts/RobotoMono-boldItalic.fntdata"/><Relationship Id="rId10" Type="http://schemas.openxmlformats.org/officeDocument/2006/relationships/slide" Target="slides/slide4.xml"/><Relationship Id="rId32" Type="http://schemas.openxmlformats.org/officeDocument/2006/relationships/font" Target="fonts/RobotoMono-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99a2d7f3d2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99a2d7f3d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9a2d7f3d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9a2d7f3d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99a2d7f3d2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99a2d7f3d2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45ce6bdd5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45ce6bdd5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45ce6bdd5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45ce6bdd5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45ce6bdd5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45ce6bdd5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45ce6bdd5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45ce6bdd5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45ce6bdd5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45ce6bdd5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Example: Discovering that a company’s forgotten subdomain runs old forum software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45ce6bdd5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45ce6bdd5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45ce6bdd5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45ce6bdd5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Example: Gaining access to a restricted staff portal by exploiting a SQL injection in the login form, </a:t>
            </a:r>
            <a:r>
              <a:rPr lang="en" sz="1200">
                <a:solidFill>
                  <a:schemeClr val="dk1"/>
                </a:solidFill>
                <a:latin typeface="Roboto"/>
                <a:ea typeface="Roboto"/>
                <a:cs typeface="Roboto"/>
                <a:sym typeface="Roboto"/>
              </a:rPr>
              <a:t>Detecting an out-of-date WordPress version with known exploits</a:t>
            </a:r>
            <a:endParaRPr>
              <a:solidFill>
                <a:schemeClr val="dk1"/>
              </a:solidFill>
            </a:endParaRPr>
          </a:p>
          <a:p>
            <a:pPr indent="0" lvl="0" marL="0" rtl="0" algn="l">
              <a:lnSpc>
                <a:spcPct val="115000"/>
              </a:lnSpc>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45ce6bdd5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45ce6bdd5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Example: Report shows a critical vulnerability that could allow full database access; recommends immediate patching and access controls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45ce6bdd5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45ce6bdd5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45ce6bdd5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45ce6bdd5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45ce6bdd5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45ce6bdd5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45ce6bdd5_1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45ce6bdd5_1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Links still work!</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45ce6bdd5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45ce6bdd5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45ce6bdd5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45ce6bdd5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45ce6bdd5_1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45ce6bdd5_1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0"/>
            <a:ext cx="9144000" cy="2834100"/>
          </a:xfrm>
          <a:prstGeom prst="rect">
            <a:avLst/>
          </a:prstGeom>
          <a:solidFill>
            <a:srgbClr val="1C1E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a:off x="0" y="2834125"/>
            <a:ext cx="9144000" cy="25200"/>
          </a:xfrm>
          <a:prstGeom prst="rect">
            <a:avLst/>
          </a:prstGeom>
          <a:solidFill>
            <a:srgbClr val="EB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
          <p:cNvSpPr/>
          <p:nvPr/>
        </p:nvSpPr>
        <p:spPr>
          <a:xfrm>
            <a:off x="0" y="0"/>
            <a:ext cx="9144000" cy="767400"/>
          </a:xfrm>
          <a:prstGeom prst="rect">
            <a:avLst/>
          </a:prstGeom>
          <a:solidFill>
            <a:srgbClr val="1C1E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Mono"/>
              <a:ea typeface="Roboto Mono"/>
              <a:cs typeface="Roboto Mono"/>
              <a:sym typeface="Roboto Mono"/>
            </a:endParaRPr>
          </a:p>
        </p:txBody>
      </p:sp>
      <p:sp>
        <p:nvSpPr>
          <p:cNvPr id="16" name="Google Shape;16;p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Roboto"/>
              <a:buChar char="●"/>
              <a:defRPr>
                <a:latin typeface="Roboto"/>
                <a:ea typeface="Roboto"/>
                <a:cs typeface="Roboto"/>
                <a:sym typeface="Roboto"/>
              </a:defRPr>
            </a:lvl1pPr>
            <a:lvl2pPr indent="-317500" lvl="1" marL="914400">
              <a:spcBef>
                <a:spcPts val="1600"/>
              </a:spcBef>
              <a:spcAft>
                <a:spcPts val="0"/>
              </a:spcAft>
              <a:buSzPts val="1400"/>
              <a:buFont typeface="Roboto"/>
              <a:buChar char="○"/>
              <a:defRPr>
                <a:latin typeface="Roboto"/>
                <a:ea typeface="Roboto"/>
                <a:cs typeface="Roboto"/>
                <a:sym typeface="Roboto"/>
              </a:defRPr>
            </a:lvl2pPr>
            <a:lvl3pPr indent="-317500" lvl="2" marL="1371600">
              <a:spcBef>
                <a:spcPts val="1600"/>
              </a:spcBef>
              <a:spcAft>
                <a:spcPts val="0"/>
              </a:spcAft>
              <a:buSzPts val="1400"/>
              <a:buFont typeface="Roboto"/>
              <a:buChar char="■"/>
              <a:defRPr>
                <a:latin typeface="Roboto"/>
                <a:ea typeface="Roboto"/>
                <a:cs typeface="Roboto"/>
                <a:sym typeface="Roboto"/>
              </a:defRPr>
            </a:lvl3pPr>
            <a:lvl4pPr indent="-317500" lvl="3" marL="1828800">
              <a:spcBef>
                <a:spcPts val="1600"/>
              </a:spcBef>
              <a:spcAft>
                <a:spcPts val="0"/>
              </a:spcAft>
              <a:buSzPts val="1400"/>
              <a:buFont typeface="Roboto"/>
              <a:buChar char="●"/>
              <a:defRPr>
                <a:latin typeface="Roboto"/>
                <a:ea typeface="Roboto"/>
                <a:cs typeface="Roboto"/>
                <a:sym typeface="Roboto"/>
              </a:defRPr>
            </a:lvl4pPr>
            <a:lvl5pPr indent="-317500" lvl="4" marL="2286000">
              <a:spcBef>
                <a:spcPts val="1600"/>
              </a:spcBef>
              <a:spcAft>
                <a:spcPts val="0"/>
              </a:spcAft>
              <a:buSzPts val="1400"/>
              <a:buFont typeface="Roboto"/>
              <a:buChar char="○"/>
              <a:defRPr>
                <a:latin typeface="Roboto"/>
                <a:ea typeface="Roboto"/>
                <a:cs typeface="Roboto"/>
                <a:sym typeface="Roboto"/>
              </a:defRPr>
            </a:lvl5pPr>
            <a:lvl6pPr indent="-317500" lvl="5" marL="2743200">
              <a:spcBef>
                <a:spcPts val="1600"/>
              </a:spcBef>
              <a:spcAft>
                <a:spcPts val="0"/>
              </a:spcAft>
              <a:buSzPts val="1400"/>
              <a:buFont typeface="Roboto"/>
              <a:buChar char="■"/>
              <a:defRPr>
                <a:latin typeface="Roboto"/>
                <a:ea typeface="Roboto"/>
                <a:cs typeface="Roboto"/>
                <a:sym typeface="Roboto"/>
              </a:defRPr>
            </a:lvl6pPr>
            <a:lvl7pPr indent="-317500" lvl="6" marL="3200400">
              <a:spcBef>
                <a:spcPts val="1600"/>
              </a:spcBef>
              <a:spcAft>
                <a:spcPts val="0"/>
              </a:spcAft>
              <a:buSzPts val="1400"/>
              <a:buFont typeface="Roboto"/>
              <a:buChar char="●"/>
              <a:defRPr>
                <a:latin typeface="Roboto"/>
                <a:ea typeface="Roboto"/>
                <a:cs typeface="Roboto"/>
                <a:sym typeface="Roboto"/>
              </a:defRPr>
            </a:lvl7pPr>
            <a:lvl8pPr indent="-317500" lvl="7" marL="3657600">
              <a:spcBef>
                <a:spcPts val="1600"/>
              </a:spcBef>
              <a:spcAft>
                <a:spcPts val="0"/>
              </a:spcAft>
              <a:buSzPts val="1400"/>
              <a:buFont typeface="Roboto"/>
              <a:buChar char="○"/>
              <a:defRPr>
                <a:latin typeface="Roboto"/>
                <a:ea typeface="Roboto"/>
                <a:cs typeface="Roboto"/>
                <a:sym typeface="Roboto"/>
              </a:defRPr>
            </a:lvl8pPr>
            <a:lvl9pPr indent="-317500" lvl="8" marL="4114800">
              <a:spcBef>
                <a:spcPts val="1600"/>
              </a:spcBef>
              <a:spcAft>
                <a:spcPts val="1600"/>
              </a:spcAft>
              <a:buSzPts val="1400"/>
              <a:buFont typeface="Roboto"/>
              <a:buChar char="■"/>
              <a:defRPr>
                <a:latin typeface="Roboto"/>
                <a:ea typeface="Roboto"/>
                <a:cs typeface="Roboto"/>
                <a:sym typeface="Roboto"/>
              </a:defRPr>
            </a:lvl9pPr>
          </a:lstStyle>
          <a:p/>
        </p:txBody>
      </p:sp>
      <p:sp>
        <p:nvSpPr>
          <p:cNvPr id="17" name="Google Shape;17;p3"/>
          <p:cNvSpPr/>
          <p:nvPr/>
        </p:nvSpPr>
        <p:spPr>
          <a:xfrm>
            <a:off x="0" y="767400"/>
            <a:ext cx="9144000" cy="25200"/>
          </a:xfrm>
          <a:prstGeom prst="rect">
            <a:avLst/>
          </a:prstGeom>
          <a:solidFill>
            <a:srgbClr val="EB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4"/>
          <p:cNvSpPr/>
          <p:nvPr/>
        </p:nvSpPr>
        <p:spPr>
          <a:xfrm>
            <a:off x="0" y="0"/>
            <a:ext cx="9144000" cy="767400"/>
          </a:xfrm>
          <a:prstGeom prst="rect">
            <a:avLst/>
          </a:prstGeom>
          <a:solidFill>
            <a:srgbClr val="1C1E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767400"/>
            <a:ext cx="9144000" cy="25200"/>
          </a:xfrm>
          <a:prstGeom prst="rect">
            <a:avLst/>
          </a:prstGeom>
          <a:solidFill>
            <a:srgbClr val="EB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5"/>
          <p:cNvSpPr/>
          <p:nvPr/>
        </p:nvSpPr>
        <p:spPr>
          <a:xfrm>
            <a:off x="0" y="0"/>
            <a:ext cx="9144000" cy="767400"/>
          </a:xfrm>
          <a:prstGeom prst="rect">
            <a:avLst/>
          </a:prstGeom>
          <a:solidFill>
            <a:srgbClr val="1C1E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767400"/>
            <a:ext cx="9144000" cy="25200"/>
          </a:xfrm>
          <a:prstGeom prst="rect">
            <a:avLst/>
          </a:prstGeom>
          <a:solidFill>
            <a:srgbClr val="EB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6"/>
          <p:cNvSpPr txBox="1"/>
          <p:nvPr>
            <p:ph idx="1" type="body"/>
          </p:nvPr>
        </p:nvSpPr>
        <p:spPr>
          <a:xfrm>
            <a:off x="298450" y="11510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6"/>
          <p:cNvSpPr/>
          <p:nvPr/>
        </p:nvSpPr>
        <p:spPr>
          <a:xfrm>
            <a:off x="0" y="0"/>
            <a:ext cx="9144000" cy="767400"/>
          </a:xfrm>
          <a:prstGeom prst="rect">
            <a:avLst/>
          </a:prstGeom>
          <a:solidFill>
            <a:srgbClr val="1C1E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6"/>
          <p:cNvSpPr/>
          <p:nvPr/>
        </p:nvSpPr>
        <p:spPr>
          <a:xfrm>
            <a:off x="0" y="767400"/>
            <a:ext cx="9144000" cy="25200"/>
          </a:xfrm>
          <a:prstGeom prst="rect">
            <a:avLst/>
          </a:prstGeom>
          <a:solidFill>
            <a:srgbClr val="EB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7"/>
          <p:cNvSpPr/>
          <p:nvPr/>
        </p:nvSpPr>
        <p:spPr>
          <a:xfrm>
            <a:off x="0" y="0"/>
            <a:ext cx="9144000" cy="3576600"/>
          </a:xfrm>
          <a:prstGeom prst="rect">
            <a:avLst/>
          </a:prstGeom>
          <a:solidFill>
            <a:srgbClr val="1C1E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7"/>
          <p:cNvSpPr txBox="1"/>
          <p:nvPr>
            <p:ph type="title"/>
          </p:nvPr>
        </p:nvSpPr>
        <p:spPr>
          <a:xfrm>
            <a:off x="490250" y="450150"/>
            <a:ext cx="6367800" cy="30960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7"/>
          <p:cNvSpPr/>
          <p:nvPr/>
        </p:nvSpPr>
        <p:spPr>
          <a:xfrm>
            <a:off x="-26525" y="3576475"/>
            <a:ext cx="9144000" cy="25200"/>
          </a:xfrm>
          <a:prstGeom prst="rect">
            <a:avLst/>
          </a:prstGeom>
          <a:solidFill>
            <a:srgbClr val="EB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8"/>
          <p:cNvSpPr/>
          <p:nvPr/>
        </p:nvSpPr>
        <p:spPr>
          <a:xfrm>
            <a:off x="4572000" y="0"/>
            <a:ext cx="4572000" cy="5143500"/>
          </a:xfrm>
          <a:prstGeom prst="rect">
            <a:avLst/>
          </a:prstGeom>
          <a:solidFill>
            <a:srgbClr val="3335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3354B"/>
              </a:solidFill>
            </a:endParaRPr>
          </a:p>
        </p:txBody>
      </p:sp>
      <p:sp>
        <p:nvSpPr>
          <p:cNvPr id="40" name="Google Shape;40;p8"/>
          <p:cNvSpPr/>
          <p:nvPr/>
        </p:nvSpPr>
        <p:spPr>
          <a:xfrm>
            <a:off x="0" y="0"/>
            <a:ext cx="4572000" cy="2834100"/>
          </a:xfrm>
          <a:prstGeom prst="rect">
            <a:avLst/>
          </a:prstGeom>
          <a:solidFill>
            <a:srgbClr val="1C1E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8"/>
          <p:cNvSpPr txBox="1"/>
          <p:nvPr>
            <p:ph type="title"/>
          </p:nvPr>
        </p:nvSpPr>
        <p:spPr>
          <a:xfrm>
            <a:off x="265500" y="238625"/>
            <a:ext cx="4115700" cy="24768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4" name="Google Shape;44;p8"/>
          <p:cNvSpPr/>
          <p:nvPr/>
        </p:nvSpPr>
        <p:spPr>
          <a:xfrm>
            <a:off x="0" y="2834125"/>
            <a:ext cx="4572000" cy="25200"/>
          </a:xfrm>
          <a:prstGeom prst="rect">
            <a:avLst/>
          </a:prstGeom>
          <a:solidFill>
            <a:srgbClr val="EB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8"/>
          <p:cNvSpPr/>
          <p:nvPr/>
        </p:nvSpPr>
        <p:spPr>
          <a:xfrm rot="5400000">
            <a:off x="2000700" y="2559600"/>
            <a:ext cx="5143500" cy="24300"/>
          </a:xfrm>
          <a:prstGeom prst="rect">
            <a:avLst/>
          </a:prstGeom>
          <a:solidFill>
            <a:srgbClr val="EB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None/>
              <a:defRPr/>
            </a:lvl1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0"/>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33354B"/>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63250" y="95600"/>
            <a:ext cx="7417500" cy="576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09CECE"/>
              </a:buClr>
              <a:buSzPts val="2800"/>
              <a:buFont typeface="Roboto Mono"/>
              <a:buNone/>
              <a:defRPr b="1" sz="2800">
                <a:solidFill>
                  <a:srgbClr val="09CECE"/>
                </a:solidFill>
                <a:latin typeface="Roboto Mono"/>
                <a:ea typeface="Roboto Mono"/>
                <a:cs typeface="Roboto Mono"/>
                <a:sym typeface="Roboto Mon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1pPr>
            <a:lvl2pPr indent="-317500" lvl="1" marL="914400">
              <a:lnSpc>
                <a:spcPct val="115000"/>
              </a:lnSpc>
              <a:spcBef>
                <a:spcPts val="1600"/>
              </a:spcBef>
              <a:spcAft>
                <a:spcPts val="0"/>
              </a:spcAft>
              <a:buClr>
                <a:schemeClr val="lt1"/>
              </a:buClr>
              <a:buSzPts val="1400"/>
              <a:buFont typeface="Roboto"/>
              <a:buChar char="○"/>
              <a:defRPr>
                <a:solidFill>
                  <a:schemeClr val="lt1"/>
                </a:solidFill>
                <a:latin typeface="Roboto"/>
                <a:ea typeface="Roboto"/>
                <a:cs typeface="Roboto"/>
                <a:sym typeface="Roboto"/>
              </a:defRPr>
            </a:lvl2pPr>
            <a:lvl3pPr indent="-317500" lvl="2" marL="1371600">
              <a:lnSpc>
                <a:spcPct val="115000"/>
              </a:lnSpc>
              <a:spcBef>
                <a:spcPts val="1600"/>
              </a:spcBef>
              <a:spcAft>
                <a:spcPts val="0"/>
              </a:spcAft>
              <a:buClr>
                <a:schemeClr val="lt1"/>
              </a:buClr>
              <a:buSzPts val="1400"/>
              <a:buFont typeface="Roboto"/>
              <a:buChar char="■"/>
              <a:defRPr>
                <a:solidFill>
                  <a:schemeClr val="lt1"/>
                </a:solidFill>
                <a:latin typeface="Roboto"/>
                <a:ea typeface="Roboto"/>
                <a:cs typeface="Roboto"/>
                <a:sym typeface="Roboto"/>
              </a:defRPr>
            </a:lvl3pPr>
            <a:lvl4pPr indent="-317500" lvl="3" marL="1828800">
              <a:lnSpc>
                <a:spcPct val="115000"/>
              </a:lnSpc>
              <a:spcBef>
                <a:spcPts val="1600"/>
              </a:spcBef>
              <a:spcAft>
                <a:spcPts val="0"/>
              </a:spcAft>
              <a:buClr>
                <a:schemeClr val="lt1"/>
              </a:buClr>
              <a:buSzPts val="1400"/>
              <a:buFont typeface="Roboto"/>
              <a:buChar char="●"/>
              <a:defRPr>
                <a:solidFill>
                  <a:schemeClr val="lt1"/>
                </a:solidFill>
                <a:latin typeface="Roboto"/>
                <a:ea typeface="Roboto"/>
                <a:cs typeface="Roboto"/>
                <a:sym typeface="Roboto"/>
              </a:defRPr>
            </a:lvl4pPr>
            <a:lvl5pPr indent="-317500" lvl="4" marL="2286000">
              <a:lnSpc>
                <a:spcPct val="115000"/>
              </a:lnSpc>
              <a:spcBef>
                <a:spcPts val="1600"/>
              </a:spcBef>
              <a:spcAft>
                <a:spcPts val="0"/>
              </a:spcAft>
              <a:buClr>
                <a:schemeClr val="lt1"/>
              </a:buClr>
              <a:buSzPts val="1400"/>
              <a:buFont typeface="Roboto"/>
              <a:buChar char="○"/>
              <a:defRPr>
                <a:solidFill>
                  <a:schemeClr val="lt1"/>
                </a:solidFill>
                <a:latin typeface="Roboto"/>
                <a:ea typeface="Roboto"/>
                <a:cs typeface="Roboto"/>
                <a:sym typeface="Roboto"/>
              </a:defRPr>
            </a:lvl5pPr>
            <a:lvl6pPr indent="-317500" lvl="5" marL="2743200">
              <a:lnSpc>
                <a:spcPct val="115000"/>
              </a:lnSpc>
              <a:spcBef>
                <a:spcPts val="1600"/>
              </a:spcBef>
              <a:spcAft>
                <a:spcPts val="0"/>
              </a:spcAft>
              <a:buClr>
                <a:schemeClr val="lt1"/>
              </a:buClr>
              <a:buSzPts val="1400"/>
              <a:buFont typeface="Roboto"/>
              <a:buChar char="■"/>
              <a:defRPr>
                <a:solidFill>
                  <a:schemeClr val="lt1"/>
                </a:solidFill>
                <a:latin typeface="Roboto"/>
                <a:ea typeface="Roboto"/>
                <a:cs typeface="Roboto"/>
                <a:sym typeface="Roboto"/>
              </a:defRPr>
            </a:lvl6pPr>
            <a:lvl7pPr indent="-317500" lvl="6" marL="3200400">
              <a:lnSpc>
                <a:spcPct val="115000"/>
              </a:lnSpc>
              <a:spcBef>
                <a:spcPts val="1600"/>
              </a:spcBef>
              <a:spcAft>
                <a:spcPts val="0"/>
              </a:spcAft>
              <a:buClr>
                <a:schemeClr val="lt1"/>
              </a:buClr>
              <a:buSzPts val="1400"/>
              <a:buFont typeface="Roboto"/>
              <a:buChar char="●"/>
              <a:defRPr>
                <a:solidFill>
                  <a:schemeClr val="lt1"/>
                </a:solidFill>
                <a:latin typeface="Roboto"/>
                <a:ea typeface="Roboto"/>
                <a:cs typeface="Roboto"/>
                <a:sym typeface="Roboto"/>
              </a:defRPr>
            </a:lvl7pPr>
            <a:lvl8pPr indent="-317500" lvl="7" marL="3657600">
              <a:lnSpc>
                <a:spcPct val="115000"/>
              </a:lnSpc>
              <a:spcBef>
                <a:spcPts val="1600"/>
              </a:spcBef>
              <a:spcAft>
                <a:spcPts val="0"/>
              </a:spcAft>
              <a:buClr>
                <a:schemeClr val="lt1"/>
              </a:buClr>
              <a:buSzPts val="1400"/>
              <a:buFont typeface="Roboto"/>
              <a:buChar char="○"/>
              <a:defRPr>
                <a:solidFill>
                  <a:schemeClr val="lt1"/>
                </a:solidFill>
                <a:latin typeface="Roboto"/>
                <a:ea typeface="Roboto"/>
                <a:cs typeface="Roboto"/>
                <a:sym typeface="Roboto"/>
              </a:defRPr>
            </a:lvl8pPr>
            <a:lvl9pPr indent="-317500" lvl="8" marL="4114800">
              <a:lnSpc>
                <a:spcPct val="115000"/>
              </a:lnSpc>
              <a:spcBef>
                <a:spcPts val="1600"/>
              </a:spcBef>
              <a:spcAft>
                <a:spcPts val="1600"/>
              </a:spcAft>
              <a:buClr>
                <a:schemeClr val="lt1"/>
              </a:buClr>
              <a:buSzPts val="1400"/>
              <a:buFont typeface="Roboto"/>
              <a:buChar char="■"/>
              <a:defRPr>
                <a:solidFill>
                  <a:schemeClr val="lt1"/>
                </a:solidFill>
                <a:latin typeface="Roboto"/>
                <a:ea typeface="Roboto"/>
                <a:cs typeface="Roboto"/>
                <a:sym typeface="Roboto"/>
              </a:defRPr>
            </a:lvl9pPr>
          </a:lstStyle>
          <a:p/>
        </p:txBody>
      </p:sp>
      <p:pic>
        <p:nvPicPr>
          <p:cNvPr id="8" name="Google Shape;8;p1"/>
          <p:cNvPicPr preferRelativeResize="0"/>
          <p:nvPr/>
        </p:nvPicPr>
        <p:blipFill>
          <a:blip r:embed="rId1">
            <a:alphaModFix/>
          </a:blip>
          <a:stretch>
            <a:fillRect/>
          </a:stretch>
        </p:blipFill>
        <p:spPr>
          <a:xfrm>
            <a:off x="8280750" y="4290075"/>
            <a:ext cx="769849" cy="7715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legislation.gov.uk/ukpga/1990/18/conten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w3schools.com/cybersecurity/cybersecurity_prenetration_testing.ph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tryhackme.com/room/pentestingfundamentals" TargetMode="External"/><Relationship Id="rId4" Type="http://schemas.openxmlformats.org/officeDocument/2006/relationships/hyperlink" Target="https://tryhackme.com/room/kenobi" TargetMode="External"/><Relationship Id="rId5" Type="http://schemas.openxmlformats.org/officeDocument/2006/relationships/hyperlink" Target="https://portswigger.net/web-security"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forms.gle/VTYd74K5BHqbC7F68" TargetMode="External"/><Relationship Id="rId4" Type="http://schemas.openxmlformats.org/officeDocument/2006/relationships/image" Target="../media/image3.png"/><Relationship Id="rId5" Type="http://schemas.openxmlformats.org/officeDocument/2006/relationships/hyperlink" Target="mailto:jgledhill2@sheffield.ac.uk" TargetMode="External"/><Relationship Id="rId6" Type="http://schemas.openxmlformats.org/officeDocument/2006/relationships/hyperlink" Target="https://forms.gle/Qct6Wyfesv8dWmej7" TargetMode="External"/><Relationship Id="rId7"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tryhackme.com/room/pentestingfundamentals" TargetMode="External"/><Relationship Id="rId4" Type="http://schemas.openxmlformats.org/officeDocument/2006/relationships/hyperlink" Target="https://en.wikipedia.org/wiki/Penetration_test#Tools" TargetMode="External"/><Relationship Id="rId5" Type="http://schemas.openxmlformats.org/officeDocument/2006/relationships/hyperlink" Target="https://owasp.org/Top10/2025/0x00_2025-Introduction/" TargetMode="External"/><Relationship Id="rId6" Type="http://schemas.openxmlformats.org/officeDocument/2006/relationships/hyperlink" Target="https://tryhackme.com/room/pentestingfundamentals" TargetMode="External"/><Relationship Id="rId7" Type="http://schemas.openxmlformats.org/officeDocument/2006/relationships/hyperlink" Target="https://tryhackme.com/module/pentestingtoo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600"/>
              <a:t>Ethical Student Hackers</a:t>
            </a:r>
            <a:endParaRPr sz="4600"/>
          </a:p>
        </p:txBody>
      </p:sp>
      <p:sp>
        <p:nvSpPr>
          <p:cNvPr id="57" name="Google Shape;57;p1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Penetration Testing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The skills taught in these sessions allow identification and exploitation of security vulnerabilities in systems. We strive to give you a place to practice legally, and can point you to other places to practice. These skills should not be used on systems where you do not have explicit permission from the owner of the system. It is </a:t>
            </a:r>
            <a:r>
              <a:rPr lang="en" u="sng">
                <a:solidFill>
                  <a:srgbClr val="09CECE"/>
                </a:solidFill>
              </a:rPr>
              <a:t>VERY</a:t>
            </a:r>
            <a:r>
              <a:rPr lang="en"/>
              <a:t> easy to end up in breach of relevant laws, and we can accept no responsibility for anything you do with the skills learnt here. </a:t>
            </a:r>
            <a:br>
              <a:rPr lang="en"/>
            </a:br>
            <a:endParaRPr/>
          </a:p>
          <a:p>
            <a:pPr indent="-317500" lvl="0" marL="457200" rtl="0" algn="l">
              <a:spcBef>
                <a:spcPts val="0"/>
              </a:spcBef>
              <a:spcAft>
                <a:spcPts val="0"/>
              </a:spcAft>
              <a:buSzPts val="1400"/>
              <a:buChar char="●"/>
            </a:pPr>
            <a:r>
              <a:rPr lang="en"/>
              <a:t>If we have reason to believe that you are utilising these skills against systems where you are not authorised you will be banned from our events, and if necessary the relevant authorities will be alerted. </a:t>
            </a:r>
            <a:br>
              <a:rPr lang="en"/>
            </a:br>
            <a:endParaRPr/>
          </a:p>
          <a:p>
            <a:pPr indent="-317500" lvl="0" marL="457200" rtl="0" algn="l">
              <a:spcBef>
                <a:spcPts val="0"/>
              </a:spcBef>
              <a:spcAft>
                <a:spcPts val="0"/>
              </a:spcAft>
              <a:buSzPts val="1400"/>
              <a:buChar char="●"/>
            </a:pPr>
            <a:r>
              <a:rPr lang="en"/>
              <a:t>Remember, if you have any doubts as to if something is legal or authorised, just don't do it until you are able to confirm you are allowed to.</a:t>
            </a:r>
            <a:br>
              <a:rPr lang="en"/>
            </a:br>
            <a:endParaRPr/>
          </a:p>
          <a:p>
            <a:pPr indent="-317500" lvl="0" marL="457200" rtl="0" algn="l">
              <a:spcBef>
                <a:spcPts val="0"/>
              </a:spcBef>
              <a:spcAft>
                <a:spcPts val="0"/>
              </a:spcAft>
              <a:buSzPts val="1400"/>
              <a:buChar char="●"/>
            </a:pPr>
            <a:r>
              <a:rPr lang="en"/>
              <a:t>Relevant UK Law: </a:t>
            </a:r>
            <a:r>
              <a:rPr lang="en" u="sng">
                <a:solidFill>
                  <a:schemeClr val="accent5"/>
                </a:solidFill>
                <a:hlinkClick r:id="rId3">
                  <a:extLst>
                    <a:ext uri="{A12FA001-AC4F-418D-AE19-62706E023703}">
                      <ahyp:hlinkClr val="tx"/>
                    </a:ext>
                  </a:extLst>
                </a:hlinkClick>
              </a:rPr>
              <a:t>https://www.legislation.gov.uk/ukpga/1990/18/contents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
        <p:nvSpPr>
          <p:cNvPr id="63" name="Google Shape;63;p13"/>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The Legal Bit</a:t>
            </a:r>
            <a:endParaRPr/>
          </a:p>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Before proceeding past this point you must read and agree to our Code of Conduct - this is a requirement from the University for us to operate as a society. </a:t>
            </a:r>
            <a:br>
              <a:rPr lang="en"/>
            </a:br>
            <a:endParaRPr/>
          </a:p>
          <a:p>
            <a:pPr indent="-317500" lvl="0" marL="457200" rtl="0" algn="l">
              <a:spcBef>
                <a:spcPts val="0"/>
              </a:spcBef>
              <a:spcAft>
                <a:spcPts val="0"/>
              </a:spcAft>
              <a:buSzPts val="1400"/>
              <a:buChar char="●"/>
            </a:pPr>
            <a:r>
              <a:rPr lang="en"/>
              <a:t>If you have any doubts or need anything clarified, please ask a member of the committee.</a:t>
            </a:r>
            <a:br>
              <a:rPr lang="en"/>
            </a:br>
            <a:endParaRPr/>
          </a:p>
          <a:p>
            <a:pPr indent="-317500" lvl="0" marL="457200" rtl="0" algn="l">
              <a:spcBef>
                <a:spcPts val="0"/>
              </a:spcBef>
              <a:spcAft>
                <a:spcPts val="0"/>
              </a:spcAft>
              <a:buSzPts val="1400"/>
              <a:buChar char="●"/>
            </a:pPr>
            <a:r>
              <a:rPr lang="en"/>
              <a:t>Breaching the Code of Conduct = immediate ejection and further consequences.</a:t>
            </a:r>
            <a:br>
              <a:rPr lang="en"/>
            </a:br>
            <a:endParaRPr/>
          </a:p>
          <a:p>
            <a:pPr indent="-317500" lvl="0" marL="457200" rtl="0" algn="l">
              <a:spcBef>
                <a:spcPts val="0"/>
              </a:spcBef>
              <a:spcAft>
                <a:spcPts val="0"/>
              </a:spcAft>
              <a:buSzPts val="1400"/>
              <a:buChar char="●"/>
            </a:pPr>
            <a:r>
              <a:rPr lang="en"/>
              <a:t>Code of Conduct can be found at </a:t>
            </a:r>
            <a:r>
              <a:rPr b="1" lang="en">
                <a:solidFill>
                  <a:srgbClr val="FFFFFF"/>
                </a:solidFill>
              </a:rPr>
              <a:t>shefesh.com/conduct</a:t>
            </a:r>
            <a:endParaRPr b="1">
              <a:solidFill>
                <a:srgbClr val="FFFFFF"/>
              </a:solidFill>
            </a:endParaRPr>
          </a:p>
          <a:p>
            <a:pPr indent="0" lvl="0" marL="0" rtl="0" algn="l">
              <a:spcBef>
                <a:spcPts val="1600"/>
              </a:spcBef>
              <a:spcAft>
                <a:spcPts val="1600"/>
              </a:spcAft>
              <a:buNone/>
            </a:pPr>
            <a:r>
              <a:t/>
            </a:r>
            <a:endParaRPr/>
          </a:p>
        </p:txBody>
      </p:sp>
      <p:sp>
        <p:nvSpPr>
          <p:cNvPr id="69" name="Google Shape;69;p14"/>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Code of Conduct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Penetration testing (pentesting) is an authorised simulation of real-world cyber attacks on systems, networks, or apps to identify vulnerabilities before attackers do</a:t>
            </a:r>
            <a:endParaRPr/>
          </a:p>
          <a:p>
            <a:pPr indent="0" lvl="0" marL="0" rtl="0" algn="l">
              <a:spcBef>
                <a:spcPts val="1600"/>
              </a:spcBef>
              <a:spcAft>
                <a:spcPts val="0"/>
              </a:spcAft>
              <a:buNone/>
            </a:pPr>
            <a:r>
              <a:rPr lang="en"/>
              <a:t>NCSC Definition : </a:t>
            </a:r>
            <a:r>
              <a:rPr lang="en">
                <a:solidFill>
                  <a:srgbClr val="09CECE"/>
                </a:solidFill>
              </a:rPr>
              <a:t>“</a:t>
            </a:r>
            <a:r>
              <a:rPr lang="en">
                <a:solidFill>
                  <a:srgbClr val="09CECE"/>
                </a:solidFill>
              </a:rPr>
              <a:t>A method for gaining assurance in the security of an IT system by attempting to breach some or all of that system's security, using the same tools and techniques as an adversary might.”</a:t>
            </a:r>
            <a:endParaRPr>
              <a:solidFill>
                <a:srgbClr val="09CECE"/>
              </a:solidFill>
            </a:endParaRPr>
          </a:p>
          <a:p>
            <a:pPr indent="0" lvl="0" marL="0" rtl="0" algn="l">
              <a:spcBef>
                <a:spcPts val="1600"/>
              </a:spcBef>
              <a:spcAft>
                <a:spcPts val="0"/>
              </a:spcAft>
              <a:buNone/>
            </a:pPr>
            <a:r>
              <a:rPr lang="en"/>
              <a:t>Core purpose:</a:t>
            </a:r>
            <a:endParaRPr/>
          </a:p>
          <a:p>
            <a:pPr indent="-317500" lvl="0" marL="457200" rtl="0" algn="l">
              <a:spcBef>
                <a:spcPts val="1600"/>
              </a:spcBef>
              <a:spcAft>
                <a:spcPts val="0"/>
              </a:spcAft>
              <a:buSzPts val="1400"/>
              <a:buChar char="-"/>
            </a:pPr>
            <a:r>
              <a:rPr lang="en"/>
              <a:t>Secure, not break</a:t>
            </a:r>
            <a:endParaRPr/>
          </a:p>
          <a:p>
            <a:pPr indent="-317500" lvl="0" marL="457200" rtl="0" algn="l">
              <a:spcBef>
                <a:spcPts val="0"/>
              </a:spcBef>
              <a:spcAft>
                <a:spcPts val="0"/>
              </a:spcAft>
              <a:buSzPts val="1400"/>
              <a:buChar char="-"/>
            </a:pPr>
            <a:r>
              <a:rPr lang="en"/>
              <a:t>Improve security by finding weaknesses</a:t>
            </a:r>
            <a:endParaRPr/>
          </a:p>
        </p:txBody>
      </p:sp>
      <p:sp>
        <p:nvSpPr>
          <p:cNvPr id="75" name="Google Shape;75;p15"/>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Pentesting - What is 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 companies, governments, and universities now require regular pentests</a:t>
            </a:r>
            <a:endParaRPr/>
          </a:p>
          <a:p>
            <a:pPr indent="0" lvl="0" marL="0" rtl="0" algn="l">
              <a:spcBef>
                <a:spcPts val="1600"/>
              </a:spcBef>
              <a:spcAft>
                <a:spcPts val="0"/>
              </a:spcAft>
              <a:buNone/>
            </a:pPr>
            <a:r>
              <a:t/>
            </a:r>
            <a:endParaRPr/>
          </a:p>
          <a:p>
            <a:pPr indent="0" lvl="0" marL="0" rtl="0" algn="l">
              <a:spcBef>
                <a:spcPts val="1600"/>
              </a:spcBef>
              <a:spcAft>
                <a:spcPts val="1600"/>
              </a:spcAft>
              <a:buClr>
                <a:schemeClr val="dk1"/>
              </a:buClr>
              <a:buSzPts val="1100"/>
              <a:buFont typeface="Arial"/>
              <a:buNone/>
            </a:pPr>
            <a:r>
              <a:rPr lang="en"/>
              <a:t>Pentesting simulates </a:t>
            </a:r>
            <a:r>
              <a:rPr b="1" lang="en"/>
              <a:t>real-world cyberattacks</a:t>
            </a:r>
            <a:r>
              <a:rPr lang="en"/>
              <a:t>. It’s supposed to imitate attack methods that actual hackers will try. Because of this, it can be highly thorough and effective, but pentesters must stay updated on the latest hacking techniques to remain relevant</a:t>
            </a:r>
            <a:endParaRPr/>
          </a:p>
        </p:txBody>
      </p:sp>
      <p:sp>
        <p:nvSpPr>
          <p:cNvPr id="81" name="Google Shape;81;p16"/>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do it?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Vulnerability Assessment</a:t>
            </a:r>
            <a:endParaRPr/>
          </a:p>
          <a:p>
            <a:pPr indent="-317500" lvl="0" marL="457200" rtl="0" algn="l">
              <a:spcBef>
                <a:spcPts val="1600"/>
              </a:spcBef>
              <a:spcAft>
                <a:spcPts val="0"/>
              </a:spcAft>
              <a:buSzPts val="1400"/>
              <a:buChar char="-"/>
            </a:pPr>
            <a:r>
              <a:rPr lang="en"/>
              <a:t>Surface-level analysis without actual exploitation</a:t>
            </a:r>
            <a:endParaRPr/>
          </a:p>
          <a:p>
            <a:pPr indent="-317500" lvl="0" marL="457200" rtl="0" algn="l">
              <a:spcBef>
                <a:spcPts val="0"/>
              </a:spcBef>
              <a:spcAft>
                <a:spcPts val="0"/>
              </a:spcAft>
              <a:buSzPts val="1400"/>
              <a:buChar char="-"/>
            </a:pPr>
            <a:r>
              <a:rPr lang="en"/>
              <a:t>Produces periodic risk reports, focuses on patching and prevention</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Red &amp; Blue teaming</a:t>
            </a:r>
            <a:endParaRPr/>
          </a:p>
          <a:p>
            <a:pPr indent="-317500" lvl="0" marL="457200" rtl="0" algn="l">
              <a:spcBef>
                <a:spcPts val="1600"/>
              </a:spcBef>
              <a:spcAft>
                <a:spcPts val="0"/>
              </a:spcAft>
              <a:buSzPts val="1400"/>
              <a:buChar char="-"/>
            </a:pPr>
            <a:r>
              <a:rPr lang="en"/>
              <a:t>Expands on pentesting by simulating social engineering, </a:t>
            </a:r>
            <a:r>
              <a:rPr lang="en"/>
              <a:t>phishing, and physical intrusion</a:t>
            </a:r>
            <a:endParaRPr/>
          </a:p>
          <a:p>
            <a:pPr indent="-317500" lvl="0" marL="457200" rtl="0" algn="l">
              <a:spcBef>
                <a:spcPts val="0"/>
              </a:spcBef>
              <a:spcAft>
                <a:spcPts val="0"/>
              </a:spcAft>
              <a:buSzPts val="1400"/>
              <a:buChar char="-"/>
            </a:pPr>
            <a:r>
              <a:rPr lang="en"/>
              <a:t>“red team” are hackers,  “blue team” are defenders (they cover human resilience methods)</a:t>
            </a:r>
            <a:endParaRPr/>
          </a:p>
          <a:p>
            <a:pPr indent="-317500" lvl="0" marL="457200" rtl="0" algn="l">
              <a:spcBef>
                <a:spcPts val="0"/>
              </a:spcBef>
              <a:spcAft>
                <a:spcPts val="0"/>
              </a:spcAft>
              <a:buSzPts val="1400"/>
              <a:buChar char="-"/>
            </a:pPr>
            <a:r>
              <a:rPr lang="en"/>
              <a:t>Evaluates an organisation’s ability to detect, defend and respond from multi-vector threats</a:t>
            </a:r>
            <a:endParaRPr/>
          </a:p>
        </p:txBody>
      </p:sp>
      <p:sp>
        <p:nvSpPr>
          <p:cNvPr id="87" name="Google Shape;87;p17"/>
          <p:cNvSpPr txBox="1"/>
          <p:nvPr>
            <p:ph type="title"/>
          </p:nvPr>
        </p:nvSpPr>
        <p:spPr>
          <a:xfrm>
            <a:off x="534800" y="95700"/>
            <a:ext cx="81951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Pentesting vs. Other Security Testing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Types of Pentests</a:t>
            </a:r>
            <a:endParaRPr/>
          </a:p>
        </p:txBody>
      </p:sp>
      <p:graphicFrame>
        <p:nvGraphicFramePr>
          <p:cNvPr id="93" name="Google Shape;93;p18"/>
          <p:cNvGraphicFramePr/>
          <p:nvPr/>
        </p:nvGraphicFramePr>
        <p:xfrm>
          <a:off x="362675" y="903350"/>
          <a:ext cx="3000000" cy="3000000"/>
        </p:xfrm>
        <a:graphic>
          <a:graphicData uri="http://schemas.openxmlformats.org/drawingml/2006/table">
            <a:tbl>
              <a:tblPr>
                <a:noFill/>
                <a:tableStyleId>{316FDAE1-CDB2-4477-AFFD-8F39B86778E5}</a:tableStyleId>
              </a:tblPr>
              <a:tblGrid>
                <a:gridCol w="1723300"/>
                <a:gridCol w="3338225"/>
                <a:gridCol w="2856550"/>
              </a:tblGrid>
              <a:tr h="381000">
                <a:tc>
                  <a:txBody>
                    <a:bodyPr/>
                    <a:lstStyle/>
                    <a:p>
                      <a:pPr indent="0" lvl="0" marL="0" rtl="0" algn="l">
                        <a:spcBef>
                          <a:spcPts val="0"/>
                        </a:spcBef>
                        <a:spcAft>
                          <a:spcPts val="0"/>
                        </a:spcAft>
                        <a:buNone/>
                      </a:pPr>
                      <a:r>
                        <a:rPr b="1" lang="en">
                          <a:solidFill>
                            <a:schemeClr val="lt1"/>
                          </a:solidFill>
                          <a:latin typeface="Roboto"/>
                          <a:ea typeface="Roboto"/>
                          <a:cs typeface="Roboto"/>
                          <a:sym typeface="Roboto"/>
                        </a:rPr>
                        <a:t>Type</a:t>
                      </a:r>
                      <a:endParaRPr b="1">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b="1" lang="en">
                          <a:solidFill>
                            <a:schemeClr val="lt1"/>
                          </a:solidFill>
                          <a:latin typeface="Roboto"/>
                          <a:ea typeface="Roboto"/>
                          <a:cs typeface="Roboto"/>
                          <a:sym typeface="Roboto"/>
                        </a:rPr>
                        <a:t>Description</a:t>
                      </a:r>
                      <a:endParaRPr b="1">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b="1" lang="en">
                          <a:solidFill>
                            <a:schemeClr val="lt1"/>
                          </a:solidFill>
                          <a:latin typeface="Roboto"/>
                          <a:ea typeface="Roboto"/>
                          <a:cs typeface="Roboto"/>
                          <a:sym typeface="Roboto"/>
                        </a:rPr>
                        <a:t>Example Scenario</a:t>
                      </a:r>
                      <a:endParaRPr b="1">
                        <a:solidFill>
                          <a:schemeClr val="lt1"/>
                        </a:solidFill>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latin typeface="Roboto"/>
                          <a:ea typeface="Roboto"/>
                          <a:cs typeface="Roboto"/>
                          <a:sym typeface="Roboto"/>
                        </a:rPr>
                        <a:t>Black Box</a:t>
                      </a:r>
                      <a:endParaRPr>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Roboto"/>
                          <a:ea typeface="Roboto"/>
                          <a:cs typeface="Roboto"/>
                          <a:sym typeface="Roboto"/>
                        </a:rPr>
                        <a:t>Tester has no prior knowledge - essentially simulating an external hacker</a:t>
                      </a:r>
                      <a:endParaRPr>
                        <a:solidFill>
                          <a:schemeClr val="lt1"/>
                        </a:solidFill>
                        <a:latin typeface="Roboto"/>
                        <a:ea typeface="Roboto"/>
                        <a:cs typeface="Roboto"/>
                        <a:sym typeface="Roboto"/>
                      </a:endParaRPr>
                    </a:p>
                    <a:p>
                      <a:pPr indent="0" lvl="0" marL="0" rtl="0" algn="l">
                        <a:spcBef>
                          <a:spcPts val="0"/>
                        </a:spcBef>
                        <a:spcAft>
                          <a:spcPts val="0"/>
                        </a:spcAft>
                        <a:buNone/>
                      </a:pPr>
                      <a:r>
                        <a:t/>
                      </a:r>
                      <a:endParaRPr>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Roboto"/>
                          <a:ea typeface="Roboto"/>
                          <a:cs typeface="Roboto"/>
                          <a:sym typeface="Roboto"/>
                        </a:rPr>
                        <a:t>Student tries to hack into a University site with no account</a:t>
                      </a:r>
                      <a:endParaRPr>
                        <a:solidFill>
                          <a:schemeClr val="lt1"/>
                        </a:solidFill>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latin typeface="Roboto"/>
                          <a:ea typeface="Roboto"/>
                          <a:cs typeface="Roboto"/>
                          <a:sym typeface="Roboto"/>
                        </a:rPr>
                        <a:t>White Box</a:t>
                      </a:r>
                      <a:endParaRPr>
                        <a:solidFill>
                          <a:schemeClr val="lt1"/>
                        </a:solidFill>
                        <a:latin typeface="Roboto"/>
                        <a:ea typeface="Roboto"/>
                        <a:cs typeface="Roboto"/>
                        <a:sym typeface="Roboto"/>
                      </a:endParaRPr>
                    </a:p>
                    <a:p>
                      <a:pPr indent="0" lvl="0" marL="0" rtl="0" algn="l">
                        <a:spcBef>
                          <a:spcPts val="0"/>
                        </a:spcBef>
                        <a:spcAft>
                          <a:spcPts val="0"/>
                        </a:spcAft>
                        <a:buNone/>
                      </a:pPr>
                      <a:r>
                        <a:t/>
                      </a:r>
                      <a:endParaRPr>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Roboto"/>
                          <a:ea typeface="Roboto"/>
                          <a:cs typeface="Roboto"/>
                          <a:sym typeface="Roboto"/>
                        </a:rPr>
                        <a:t>Full insider knowledge and credentials provided. Simulates an attacker with inside access</a:t>
                      </a:r>
                      <a:endParaRPr>
                        <a:solidFill>
                          <a:schemeClr val="lt1"/>
                        </a:solidFill>
                        <a:latin typeface="Roboto"/>
                        <a:ea typeface="Roboto"/>
                        <a:cs typeface="Roboto"/>
                        <a:sym typeface="Roboto"/>
                      </a:endParaRPr>
                    </a:p>
                    <a:p>
                      <a:pPr indent="0" lvl="0" marL="0" rtl="0" algn="l">
                        <a:spcBef>
                          <a:spcPts val="0"/>
                        </a:spcBef>
                        <a:spcAft>
                          <a:spcPts val="0"/>
                        </a:spcAft>
                        <a:buNone/>
                      </a:pPr>
                      <a:r>
                        <a:t/>
                      </a:r>
                      <a:endParaRPr>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Roboto"/>
                          <a:ea typeface="Roboto"/>
                          <a:cs typeface="Roboto"/>
                          <a:sym typeface="Roboto"/>
                        </a:rPr>
                        <a:t>You’re given access to source code, diagrams and system credentials for the university site</a:t>
                      </a:r>
                      <a:endParaRPr>
                        <a:solidFill>
                          <a:schemeClr val="lt1"/>
                        </a:solidFill>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latin typeface="Roboto"/>
                          <a:ea typeface="Roboto"/>
                          <a:cs typeface="Roboto"/>
                          <a:sym typeface="Roboto"/>
                        </a:rPr>
                        <a:t>Grey Box</a:t>
                      </a:r>
                      <a:endParaRPr>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Roboto"/>
                          <a:ea typeface="Roboto"/>
                          <a:cs typeface="Roboto"/>
                          <a:sym typeface="Roboto"/>
                        </a:rPr>
                        <a:t>Partial knowledge / access. Target is shared. </a:t>
                      </a:r>
                      <a:r>
                        <a:rPr lang="en">
                          <a:solidFill>
                            <a:schemeClr val="lt1"/>
                          </a:solidFill>
                          <a:latin typeface="Roboto"/>
                          <a:ea typeface="Roboto"/>
                          <a:cs typeface="Roboto"/>
                          <a:sym typeface="Roboto"/>
                        </a:rPr>
                        <a:t>Privilege</a:t>
                      </a:r>
                      <a:r>
                        <a:rPr lang="en">
                          <a:solidFill>
                            <a:schemeClr val="lt1"/>
                          </a:solidFill>
                          <a:latin typeface="Roboto"/>
                          <a:ea typeface="Roboto"/>
                          <a:cs typeface="Roboto"/>
                          <a:sym typeface="Roboto"/>
                        </a:rPr>
                        <a:t> escalation is key</a:t>
                      </a:r>
                      <a:endParaRPr>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Roboto"/>
                          <a:ea typeface="Roboto"/>
                          <a:cs typeface="Roboto"/>
                          <a:sym typeface="Roboto"/>
                        </a:rPr>
                        <a:t>Tester has access as a staff member, however not all documents are present</a:t>
                      </a:r>
                      <a:endParaRPr>
                        <a:solidFill>
                          <a:schemeClr val="lt1"/>
                        </a:solidFill>
                        <a:latin typeface="Roboto"/>
                        <a:ea typeface="Roboto"/>
                        <a:cs typeface="Roboto"/>
                        <a:sym typeface="Roboto"/>
                      </a:endParaRPr>
                    </a:p>
                    <a:p>
                      <a:pPr indent="0" lvl="0" marL="0" rtl="0" algn="l">
                        <a:spcBef>
                          <a:spcPts val="0"/>
                        </a:spcBef>
                        <a:spcAft>
                          <a:spcPts val="0"/>
                        </a:spcAft>
                        <a:buNone/>
                      </a:pPr>
                      <a:r>
                        <a:t/>
                      </a:r>
                      <a:endParaRPr>
                        <a:solidFill>
                          <a:schemeClr val="lt1"/>
                        </a:solidFill>
                        <a:latin typeface="Roboto"/>
                        <a:ea typeface="Roboto"/>
                        <a:cs typeface="Roboto"/>
                        <a:sym typeface="Roboto"/>
                      </a:endParaRPr>
                    </a:p>
                  </a:txBody>
                  <a:tcPr marT="91425" marB="91425" marR="91425" marL="91425"/>
                </a:tc>
              </a:tr>
            </a:tbl>
          </a:graphicData>
        </a:graphic>
      </p:graphicFrame>
      <p:sp>
        <p:nvSpPr>
          <p:cNvPr id="94" name="Google Shape;94;p18"/>
          <p:cNvSpPr txBox="1"/>
          <p:nvPr/>
        </p:nvSpPr>
        <p:spPr>
          <a:xfrm>
            <a:off x="362675" y="4467150"/>
            <a:ext cx="7007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Roboto"/>
                <a:ea typeface="Roboto"/>
                <a:cs typeface="Roboto"/>
                <a:sym typeface="Roboto"/>
              </a:rPr>
              <a:t>Sometimes known as ‘No-knowledge’, ‘Partial-knowledge’ and ‘Full-knowledge’ pentests</a:t>
            </a:r>
            <a:endParaRPr>
              <a:solidFill>
                <a:schemeClr val="l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Reconnaissance</a:t>
            </a:r>
            <a:endParaRPr/>
          </a:p>
          <a:p>
            <a:pPr indent="-317500" lvl="0" marL="457200" rtl="0" algn="l">
              <a:spcBef>
                <a:spcPts val="0"/>
              </a:spcBef>
              <a:spcAft>
                <a:spcPts val="0"/>
              </a:spcAft>
              <a:buSzPts val="1400"/>
              <a:buChar char="-"/>
            </a:pPr>
            <a:r>
              <a:rPr lang="en"/>
              <a:t>Scanning / Enumeration</a:t>
            </a:r>
            <a:endParaRPr/>
          </a:p>
          <a:p>
            <a:pPr indent="-317500" lvl="0" marL="457200" rtl="0" algn="l">
              <a:spcBef>
                <a:spcPts val="0"/>
              </a:spcBef>
              <a:spcAft>
                <a:spcPts val="0"/>
              </a:spcAft>
              <a:buSzPts val="1400"/>
              <a:buChar char="-"/>
            </a:pPr>
            <a:r>
              <a:rPr lang="en"/>
              <a:t>Vulnerability Assessment</a:t>
            </a:r>
            <a:endParaRPr/>
          </a:p>
          <a:p>
            <a:pPr indent="-317500" lvl="0" marL="457200" rtl="0" algn="l">
              <a:spcBef>
                <a:spcPts val="0"/>
              </a:spcBef>
              <a:spcAft>
                <a:spcPts val="0"/>
              </a:spcAft>
              <a:buSzPts val="1400"/>
              <a:buChar char="-"/>
            </a:pPr>
            <a:r>
              <a:rPr lang="en"/>
              <a:t>Exploitation</a:t>
            </a:r>
            <a:endParaRPr/>
          </a:p>
          <a:p>
            <a:pPr indent="-317500" lvl="0" marL="457200" rtl="0" algn="l">
              <a:spcBef>
                <a:spcPts val="0"/>
              </a:spcBef>
              <a:spcAft>
                <a:spcPts val="0"/>
              </a:spcAft>
              <a:buSzPts val="1400"/>
              <a:buChar char="-"/>
            </a:pPr>
            <a:r>
              <a:rPr lang="en"/>
              <a:t>Reporting &amp; Remediation</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We already know how to do some of these things, we shall see later</a:t>
            </a:r>
            <a:endParaRPr/>
          </a:p>
        </p:txBody>
      </p:sp>
      <p:sp>
        <p:nvSpPr>
          <p:cNvPr id="100" name="Google Shape;100;p19"/>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Pentesting 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Gathering as much information as possible about the target (company, website, </a:t>
            </a:r>
            <a:r>
              <a:rPr lang="en"/>
              <a:t>network, application etc.)</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Open Source Intelligence (OSINT)</a:t>
            </a:r>
            <a:endParaRPr/>
          </a:p>
          <a:p>
            <a:pPr indent="0" lvl="0" marL="0" rtl="0" algn="l">
              <a:spcBef>
                <a:spcPts val="1600"/>
              </a:spcBef>
              <a:spcAft>
                <a:spcPts val="0"/>
              </a:spcAft>
              <a:buNone/>
            </a:pPr>
            <a:r>
              <a:rPr lang="en"/>
              <a:t>Whois</a:t>
            </a:r>
            <a:endParaRPr/>
          </a:p>
          <a:p>
            <a:pPr indent="0" lvl="0" marL="0" rtl="0" algn="l">
              <a:spcBef>
                <a:spcPts val="1600"/>
              </a:spcBef>
              <a:spcAft>
                <a:spcPts val="0"/>
              </a:spcAft>
              <a:buNone/>
            </a:pPr>
            <a:r>
              <a:rPr lang="en"/>
              <a:t>Google dorks</a:t>
            </a:r>
            <a:endParaRPr/>
          </a:p>
          <a:p>
            <a:pPr indent="0" lvl="0" marL="0" rtl="0" algn="l">
              <a:spcBef>
                <a:spcPts val="1600"/>
              </a:spcBef>
              <a:spcAft>
                <a:spcPts val="1600"/>
              </a:spcAft>
              <a:buNone/>
            </a:pPr>
            <a:r>
              <a:rPr lang="en"/>
              <a:t>Social Media</a:t>
            </a:r>
            <a:endParaRPr/>
          </a:p>
        </p:txBody>
      </p:sp>
      <p:sp>
        <p:nvSpPr>
          <p:cNvPr id="106" name="Google Shape;106;p20"/>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Reconnaissance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Trying to identify live hosts, open ports, running services for potential points of weakness</a:t>
            </a:r>
            <a:endParaRPr/>
          </a:p>
          <a:p>
            <a:pPr indent="0" lvl="0" marL="0" rtl="0" algn="l">
              <a:spcBef>
                <a:spcPts val="1600"/>
              </a:spcBef>
              <a:spcAft>
                <a:spcPts val="0"/>
              </a:spcAft>
              <a:buNone/>
            </a:pPr>
            <a:r>
              <a:t/>
            </a:r>
            <a:endParaRPr/>
          </a:p>
          <a:p>
            <a:pPr indent="0" lvl="0" marL="0" rtl="0" algn="l">
              <a:spcBef>
                <a:spcPts val="900"/>
              </a:spcBef>
              <a:spcAft>
                <a:spcPts val="0"/>
              </a:spcAft>
              <a:buNone/>
            </a:pPr>
            <a:r>
              <a:rPr lang="en"/>
              <a:t>Use tools (Nmap, Gobuster, Masscan, Nessus) to map networks, find live hosts, open ports, directories, services</a:t>
            </a:r>
            <a:endParaRPr/>
          </a:p>
          <a:p>
            <a:pPr indent="0" lvl="0" marL="0" rtl="0" algn="l">
              <a:spcBef>
                <a:spcPts val="900"/>
              </a:spcBef>
              <a:spcAft>
                <a:spcPts val="0"/>
              </a:spcAft>
              <a:buNone/>
            </a:pPr>
            <a:r>
              <a:t/>
            </a:r>
            <a:endParaRPr/>
          </a:p>
          <a:p>
            <a:pPr indent="0" lvl="0" marL="0" rtl="0" algn="l">
              <a:spcBef>
                <a:spcPts val="900"/>
              </a:spcBef>
              <a:spcAft>
                <a:spcPts val="0"/>
              </a:spcAft>
              <a:buNone/>
            </a:pPr>
            <a:r>
              <a:rPr lang="en"/>
              <a:t>Potentially find things like an unprotected web admin portal running on a non-standard port, or an exposed database port</a:t>
            </a:r>
            <a:endParaRPr/>
          </a:p>
          <a:p>
            <a:pPr indent="0" lvl="0" marL="0" rtl="0" algn="l">
              <a:spcBef>
                <a:spcPts val="900"/>
              </a:spcBef>
              <a:spcAft>
                <a:spcPts val="900"/>
              </a:spcAft>
              <a:buNone/>
            </a:pPr>
            <a:r>
              <a:t/>
            </a:r>
            <a:endParaRPr/>
          </a:p>
        </p:txBody>
      </p:sp>
      <p:sp>
        <p:nvSpPr>
          <p:cNvPr id="112" name="Google Shape;112;p21"/>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Scanning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Focus on finding software flaws, like misconfigurations, vulnerable login forms and weak passwords</a:t>
            </a:r>
            <a:endParaRPr/>
          </a:p>
          <a:p>
            <a:pPr indent="0" lvl="0" marL="0" rtl="0" algn="l">
              <a:spcBef>
                <a:spcPts val="1600"/>
              </a:spcBef>
              <a:spcAft>
                <a:spcPts val="0"/>
              </a:spcAft>
              <a:buNone/>
            </a:pPr>
            <a:r>
              <a:rPr lang="en"/>
              <a:t>Use techniques like </a:t>
            </a:r>
            <a:endParaRPr/>
          </a:p>
          <a:p>
            <a:pPr indent="-317500" lvl="0" marL="457200" rtl="0" algn="l">
              <a:spcBef>
                <a:spcPts val="1600"/>
              </a:spcBef>
              <a:spcAft>
                <a:spcPts val="0"/>
              </a:spcAft>
              <a:buSzPts val="1400"/>
              <a:buChar char="●"/>
            </a:pPr>
            <a:r>
              <a:rPr lang="en"/>
              <a:t>SQL Injection</a:t>
            </a:r>
            <a:endParaRPr/>
          </a:p>
          <a:p>
            <a:pPr indent="-317500" lvl="0" marL="457200" rtl="0" algn="l">
              <a:spcBef>
                <a:spcPts val="0"/>
              </a:spcBef>
              <a:spcAft>
                <a:spcPts val="0"/>
              </a:spcAft>
              <a:buSzPts val="1400"/>
              <a:buChar char="●"/>
            </a:pPr>
            <a:r>
              <a:rPr lang="en"/>
              <a:t>Cross-Site Scripting (XSS) </a:t>
            </a:r>
            <a:endParaRPr/>
          </a:p>
          <a:p>
            <a:pPr indent="-317500" lvl="0" marL="457200" rtl="0" algn="l">
              <a:spcBef>
                <a:spcPts val="0"/>
              </a:spcBef>
              <a:spcAft>
                <a:spcPts val="0"/>
              </a:spcAft>
              <a:buSzPts val="1400"/>
              <a:buChar char="●"/>
            </a:pPr>
            <a:r>
              <a:rPr lang="en"/>
              <a:t>privilege</a:t>
            </a:r>
            <a:r>
              <a:rPr lang="en"/>
              <a:t> escalation</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Tools like Nessus, OpenVAS, and SQLMap are excellent for this</a:t>
            </a:r>
            <a:endParaRPr/>
          </a:p>
          <a:p>
            <a:pPr indent="0" lvl="0" marL="0" rtl="0" algn="l">
              <a:spcBef>
                <a:spcPts val="1600"/>
              </a:spcBef>
              <a:spcAft>
                <a:spcPts val="1600"/>
              </a:spcAft>
              <a:buNone/>
            </a:pPr>
            <a:r>
              <a:t/>
            </a:r>
            <a:endParaRPr/>
          </a:p>
        </p:txBody>
      </p:sp>
      <p:sp>
        <p:nvSpPr>
          <p:cNvPr id="118" name="Google Shape;118;p22"/>
          <p:cNvSpPr txBox="1"/>
          <p:nvPr>
            <p:ph type="title"/>
          </p:nvPr>
        </p:nvSpPr>
        <p:spPr>
          <a:xfrm>
            <a:off x="311700" y="95700"/>
            <a:ext cx="86304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Vulnerability Assessment &amp; Exploitation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Compile, organise, and communicate findings and recommendations to stakeholders ( people </a:t>
            </a:r>
            <a:r>
              <a:rPr lang="en"/>
              <a:t>hiring</a:t>
            </a:r>
            <a:r>
              <a:rPr lang="en"/>
              <a:t> you to do the pentest )</a:t>
            </a:r>
            <a:endParaRPr/>
          </a:p>
          <a:p>
            <a:pPr indent="-317500" lvl="0" marL="457200" rtl="0" algn="l">
              <a:spcBef>
                <a:spcPts val="1600"/>
              </a:spcBef>
              <a:spcAft>
                <a:spcPts val="0"/>
              </a:spcAft>
              <a:buSzPts val="1400"/>
              <a:buChar char="●"/>
            </a:pPr>
            <a:r>
              <a:rPr lang="en"/>
              <a:t>What was found, how was it </a:t>
            </a:r>
            <a:r>
              <a:rPr lang="en"/>
              <a:t>exploited</a:t>
            </a:r>
            <a:r>
              <a:rPr lang="en"/>
              <a:t> and the impact</a:t>
            </a:r>
            <a:endParaRPr/>
          </a:p>
          <a:p>
            <a:pPr indent="-317500" lvl="0" marL="457200" rtl="0" algn="l">
              <a:spcBef>
                <a:spcPts val="0"/>
              </a:spcBef>
              <a:spcAft>
                <a:spcPts val="0"/>
              </a:spcAft>
              <a:buSzPts val="1400"/>
              <a:buChar char="●"/>
            </a:pPr>
            <a:r>
              <a:rPr lang="en"/>
              <a:t>Prioritise issues based on risk  -  critical, high, medium, low</a:t>
            </a:r>
            <a:endParaRPr/>
          </a:p>
          <a:p>
            <a:pPr indent="-317500" lvl="0" marL="457200" rtl="0" algn="l">
              <a:spcBef>
                <a:spcPts val="0"/>
              </a:spcBef>
              <a:spcAft>
                <a:spcPts val="0"/>
              </a:spcAft>
              <a:buSzPts val="1400"/>
              <a:buChar char="●"/>
            </a:pPr>
            <a:r>
              <a:rPr lang="en"/>
              <a:t>Remediation advice ( crucially )  -  how to fix each issue</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A Doctor wouldn’t be very helpful if they diagnosed you and then didn’t give any treatment options</a:t>
            </a:r>
            <a:endParaRPr/>
          </a:p>
        </p:txBody>
      </p:sp>
      <p:sp>
        <p:nvSpPr>
          <p:cNvPr id="124" name="Google Shape;124;p23"/>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Reporting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311700" y="1152475"/>
            <a:ext cx="7553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We’ve already looked into some of these</a:t>
            </a:r>
            <a:endParaRPr/>
          </a:p>
          <a:p>
            <a:pPr indent="-317500" lvl="0" marL="457200" rtl="0" algn="l">
              <a:spcBef>
                <a:spcPts val="1600"/>
              </a:spcBef>
              <a:spcAft>
                <a:spcPts val="0"/>
              </a:spcAft>
              <a:buSzPts val="1400"/>
              <a:buChar char="●"/>
            </a:pPr>
            <a:r>
              <a:rPr lang="en"/>
              <a:t>Nmap  -  networks scanning and port finding</a:t>
            </a:r>
            <a:endParaRPr/>
          </a:p>
          <a:p>
            <a:pPr indent="-317500" lvl="0" marL="457200" rtl="0" algn="l">
              <a:spcBef>
                <a:spcPts val="0"/>
              </a:spcBef>
              <a:spcAft>
                <a:spcPts val="0"/>
              </a:spcAft>
              <a:buSzPts val="1400"/>
              <a:buChar char="●"/>
            </a:pPr>
            <a:r>
              <a:rPr lang="en"/>
              <a:t>Wireshark  -  packet analyser</a:t>
            </a:r>
            <a:endParaRPr/>
          </a:p>
          <a:p>
            <a:pPr indent="-317500" lvl="0" marL="457200" rtl="0" algn="l">
              <a:spcBef>
                <a:spcPts val="0"/>
              </a:spcBef>
              <a:spcAft>
                <a:spcPts val="0"/>
              </a:spcAft>
              <a:buSzPts val="1400"/>
              <a:buChar char="●"/>
            </a:pPr>
            <a:r>
              <a:rPr lang="en"/>
              <a:t>Hashcat  -  password cracking</a:t>
            </a:r>
            <a:endParaRPr/>
          </a:p>
          <a:p>
            <a:pPr indent="-317500" lvl="0" marL="457200" rtl="0" algn="l">
              <a:spcBef>
                <a:spcPts val="0"/>
              </a:spcBef>
              <a:spcAft>
                <a:spcPts val="0"/>
              </a:spcAft>
              <a:buSzPts val="1400"/>
              <a:buChar char="●"/>
            </a:pPr>
            <a:r>
              <a:rPr lang="en"/>
              <a:t>Aircrack-ng  -  WiFi auditing and password cracking</a:t>
            </a:r>
            <a:endParaRPr/>
          </a:p>
          <a:p>
            <a:pPr indent="0" lvl="0" marL="0" rtl="0" algn="l">
              <a:spcBef>
                <a:spcPts val="1600"/>
              </a:spcBef>
              <a:spcAft>
                <a:spcPts val="0"/>
              </a:spcAft>
              <a:buNone/>
            </a:pPr>
            <a:r>
              <a:rPr lang="en"/>
              <a:t>Some frameworks we haven’t covered:</a:t>
            </a:r>
            <a:endParaRPr/>
          </a:p>
          <a:p>
            <a:pPr indent="-317500" lvl="0" marL="457200" rtl="0" algn="l">
              <a:spcBef>
                <a:spcPts val="1600"/>
              </a:spcBef>
              <a:spcAft>
                <a:spcPts val="0"/>
              </a:spcAft>
              <a:buSzPts val="1400"/>
              <a:buChar char="●"/>
            </a:pPr>
            <a:r>
              <a:rPr lang="en"/>
              <a:t>OWASP ZAP (Check out OWASP Top 10)</a:t>
            </a:r>
            <a:endParaRPr/>
          </a:p>
          <a:p>
            <a:pPr indent="-317500" lvl="0" marL="457200" rtl="0" algn="l">
              <a:spcBef>
                <a:spcPts val="0"/>
              </a:spcBef>
              <a:spcAft>
                <a:spcPts val="0"/>
              </a:spcAft>
              <a:buSzPts val="1400"/>
              <a:buChar char="●"/>
            </a:pPr>
            <a:r>
              <a:rPr lang="en"/>
              <a:t>Metasploit</a:t>
            </a:r>
            <a:endParaRPr/>
          </a:p>
          <a:p>
            <a:pPr indent="-317500" lvl="0" marL="457200" rtl="0" algn="l">
              <a:spcBef>
                <a:spcPts val="0"/>
              </a:spcBef>
              <a:spcAft>
                <a:spcPts val="0"/>
              </a:spcAft>
              <a:buSzPts val="1400"/>
              <a:buChar char="●"/>
            </a:pPr>
            <a:r>
              <a:rPr lang="en"/>
              <a:t>Burp Suite</a:t>
            </a:r>
            <a:endParaRPr/>
          </a:p>
          <a:p>
            <a:pPr indent="-317500" lvl="0" marL="457200" rtl="0" algn="l">
              <a:spcBef>
                <a:spcPts val="0"/>
              </a:spcBef>
              <a:spcAft>
                <a:spcPts val="0"/>
              </a:spcAft>
              <a:buSzPts val="1400"/>
              <a:buChar char="●"/>
            </a:pPr>
            <a:r>
              <a:rPr lang="en"/>
              <a:t>John the Ripper ( Advanced Hash Cracking )</a:t>
            </a:r>
            <a:endParaRPr/>
          </a:p>
          <a:p>
            <a:pPr indent="0" lvl="0" marL="0" rtl="0" algn="l">
              <a:spcBef>
                <a:spcPts val="1600"/>
              </a:spcBef>
              <a:spcAft>
                <a:spcPts val="0"/>
              </a:spcAft>
              <a:buNone/>
            </a:pPr>
            <a:r>
              <a:rPr lang="en"/>
              <a:t>Hardware like BadUSB, Flipper Zeros are purposefully built for stages of a pentest. Others like Raspberry Pis offer design features that are useful to pentesters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30" name="Google Shape;130;p24"/>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Common Tools for Pentesters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not just tech, but people’s awareness. What red / blue teaming is good for.</a:t>
            </a:r>
            <a:endParaRPr/>
          </a:p>
          <a:p>
            <a:pPr indent="0" lvl="0" marL="0" rtl="0" algn="l">
              <a:spcBef>
                <a:spcPts val="1600"/>
              </a:spcBef>
              <a:spcAft>
                <a:spcPts val="0"/>
              </a:spcAft>
              <a:buNone/>
            </a:pPr>
            <a:r>
              <a:rPr lang="en"/>
              <a:t>Remember the police session? If you scanned the QR Code in the box they would lead you to a google search saying ‘Nice try but this is a red herring’. Most people probably wouldn’t think twice before scanning a QR Code!</a:t>
            </a:r>
            <a:endParaRPr/>
          </a:p>
          <a:p>
            <a:pPr indent="0" lvl="0" marL="0" rtl="0" algn="l">
              <a:spcBef>
                <a:spcPts val="1600"/>
              </a:spcBef>
              <a:spcAft>
                <a:spcPts val="0"/>
              </a:spcAft>
              <a:buNone/>
            </a:pPr>
            <a:r>
              <a:rPr lang="en"/>
              <a:t>Example from W3Schools:</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u="sng">
                <a:solidFill>
                  <a:schemeClr val="hlink"/>
                </a:solidFill>
                <a:hlinkClick r:id="rId3"/>
              </a:rPr>
              <a:t>Pentesting W3Schools</a:t>
            </a:r>
            <a:endParaRPr/>
          </a:p>
          <a:p>
            <a:pPr indent="0" lvl="0" marL="0" rtl="0" algn="l">
              <a:spcBef>
                <a:spcPts val="1600"/>
              </a:spcBef>
              <a:spcAft>
                <a:spcPts val="1600"/>
              </a:spcAft>
              <a:buNone/>
            </a:pPr>
            <a:r>
              <a:t/>
            </a:r>
            <a:endParaRPr/>
          </a:p>
        </p:txBody>
      </p:sp>
      <p:sp>
        <p:nvSpPr>
          <p:cNvPr id="136" name="Google Shape;136;p25"/>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Social Engineering</a:t>
            </a:r>
            <a:endParaRPr/>
          </a:p>
        </p:txBody>
      </p:sp>
      <p:sp>
        <p:nvSpPr>
          <p:cNvPr id="137" name="Google Shape;137;p25"/>
          <p:cNvSpPr/>
          <p:nvPr/>
        </p:nvSpPr>
        <p:spPr>
          <a:xfrm>
            <a:off x="684250" y="3185200"/>
            <a:ext cx="7966800" cy="927900"/>
          </a:xfrm>
          <a:prstGeom prst="rect">
            <a:avLst/>
          </a:prstGeom>
          <a:solidFill>
            <a:srgbClr val="33354B"/>
          </a:solidFill>
          <a:ln cap="flat" cmpd="sng" w="9525">
            <a:solidFill>
              <a:srgbClr val="EB3C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8" name="Google Shape;138;p25"/>
          <p:cNvSpPr txBox="1"/>
          <p:nvPr/>
        </p:nvSpPr>
        <p:spPr>
          <a:xfrm>
            <a:off x="385350" y="3279575"/>
            <a:ext cx="8084700" cy="11010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Clr>
                <a:schemeClr val="dk1"/>
              </a:buClr>
              <a:buSzPts val="1100"/>
              <a:buFont typeface="Arial"/>
              <a:buNone/>
            </a:pPr>
            <a:r>
              <a:rPr lang="en">
                <a:solidFill>
                  <a:schemeClr val="lt1"/>
                </a:solidFill>
                <a:latin typeface="Roboto"/>
                <a:ea typeface="Roboto"/>
                <a:cs typeface="Roboto"/>
                <a:sym typeface="Roboto"/>
              </a:rPr>
              <a:t>“Eve” rushes to reception, claiming an urgent job interview, hands over a USB to print a CV  ( but it’s actually carrying malware ). The receptionist tries to help and infects the office PC </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idx="1" type="body"/>
          </p:nvPr>
        </p:nvSpPr>
        <p:spPr>
          <a:xfrm>
            <a:off x="272375" y="119180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a:t>
            </a:r>
            <a:r>
              <a:rPr lang="en"/>
              <a:t>referral</a:t>
            </a:r>
            <a:r>
              <a:rPr lang="en"/>
              <a:t> tool, if you’re stuck or want some more information on pentesting: </a:t>
            </a:r>
            <a:endParaRPr/>
          </a:p>
          <a:p>
            <a:pPr indent="0" lvl="0" marL="0" rtl="0" algn="l">
              <a:spcBef>
                <a:spcPts val="1600"/>
              </a:spcBef>
              <a:spcAft>
                <a:spcPts val="0"/>
              </a:spcAft>
              <a:buNone/>
            </a:pPr>
            <a:r>
              <a:rPr lang="en" u="sng">
                <a:solidFill>
                  <a:schemeClr val="hlink"/>
                </a:solidFill>
                <a:hlinkClick r:id="rId3"/>
              </a:rPr>
              <a:t>Pentesting Fundamentals TryHackMe</a:t>
            </a:r>
            <a:endParaRPr/>
          </a:p>
          <a:p>
            <a:pPr indent="0" lvl="0" marL="0" rtl="0" algn="l">
              <a:spcBef>
                <a:spcPts val="1600"/>
              </a:spcBef>
              <a:spcAft>
                <a:spcPts val="0"/>
              </a:spcAft>
              <a:buNone/>
            </a:pPr>
            <a:r>
              <a:rPr lang="en"/>
              <a:t>TryHackMe</a:t>
            </a:r>
            <a:r>
              <a:rPr lang="en"/>
              <a:t> room:</a:t>
            </a:r>
            <a:br>
              <a:rPr lang="en"/>
            </a:br>
            <a:br>
              <a:rPr lang="en"/>
            </a:br>
            <a:r>
              <a:rPr lang="en" u="sng">
                <a:solidFill>
                  <a:schemeClr val="hlink"/>
                </a:solidFill>
                <a:hlinkClick r:id="rId4"/>
              </a:rPr>
              <a:t>https://tryhackme.com/room/kenobi</a:t>
            </a:r>
            <a:endParaRPr/>
          </a:p>
          <a:p>
            <a:pPr indent="0" lvl="0" marL="0" rtl="0" algn="l">
              <a:spcBef>
                <a:spcPts val="1600"/>
              </a:spcBef>
              <a:spcAft>
                <a:spcPts val="0"/>
              </a:spcAft>
              <a:buNone/>
            </a:pPr>
            <a:r>
              <a:rPr lang="en"/>
              <a:t>You’ll need some knowledge from previous sessions ( nmap and linux ), do ask questions!</a:t>
            </a:r>
            <a:endParaRPr/>
          </a:p>
          <a:p>
            <a:pPr indent="0" lvl="0" marL="0" rtl="0" algn="l">
              <a:spcBef>
                <a:spcPts val="1600"/>
              </a:spcBef>
              <a:spcAft>
                <a:spcPts val="0"/>
              </a:spcAft>
              <a:buNone/>
            </a:pPr>
            <a:r>
              <a:rPr lang="en"/>
              <a:t>Burp Suite basics </a:t>
            </a:r>
            <a:endParaRPr/>
          </a:p>
          <a:p>
            <a:pPr indent="0" lvl="0" marL="0" rtl="0" algn="l">
              <a:spcBef>
                <a:spcPts val="1600"/>
              </a:spcBef>
              <a:spcAft>
                <a:spcPts val="0"/>
              </a:spcAft>
              <a:buNone/>
            </a:pPr>
            <a:r>
              <a:rPr lang="en" u="sng">
                <a:solidFill>
                  <a:schemeClr val="hlink"/>
                </a:solidFill>
                <a:hlinkClick r:id="rId5"/>
              </a:rPr>
              <a:t>https://portswigger.net/web-security</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44" name="Google Shape;144;p26"/>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Practical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idx="1" type="body"/>
          </p:nvPr>
        </p:nvSpPr>
        <p:spPr>
          <a:xfrm>
            <a:off x="311675" y="926125"/>
            <a:ext cx="4018500" cy="3416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a:t>Please leave your feedback :) We want to know what we can do to improve.</a:t>
            </a:r>
            <a:endParaRPr/>
          </a:p>
          <a:p>
            <a:pPr indent="0" lvl="0" marL="0" marR="0" rtl="0" algn="l">
              <a:lnSpc>
                <a:spcPct val="115000"/>
              </a:lnSpc>
              <a:spcBef>
                <a:spcPts val="1600"/>
              </a:spcBef>
              <a:spcAft>
                <a:spcPts val="0"/>
              </a:spcAft>
              <a:buNone/>
            </a:pPr>
            <a:r>
              <a:rPr lang="en" u="sng">
                <a:solidFill>
                  <a:schemeClr val="hlink"/>
                </a:solidFill>
                <a:hlinkClick r:id="rId3"/>
              </a:rPr>
              <a:t>https://forms.gle/VTYd74K5BHqbC7F68</a:t>
            </a:r>
            <a:r>
              <a:rPr lang="en"/>
              <a:t> </a:t>
            </a:r>
            <a:endParaRPr/>
          </a:p>
          <a:p>
            <a:pPr indent="0" lvl="0" marL="457200" rtl="0" algn="l">
              <a:spcBef>
                <a:spcPts val="1600"/>
              </a:spcBef>
              <a:spcAft>
                <a:spcPts val="1600"/>
              </a:spcAft>
              <a:buNone/>
            </a:pPr>
            <a:r>
              <a:t/>
            </a:r>
            <a:endParaRPr/>
          </a:p>
        </p:txBody>
      </p:sp>
      <p:sp>
        <p:nvSpPr>
          <p:cNvPr id="150" name="Google Shape;150;p27"/>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Feedback + Inclusion Forms</a:t>
            </a:r>
            <a:endParaRPr/>
          </a:p>
        </p:txBody>
      </p:sp>
      <p:pic>
        <p:nvPicPr>
          <p:cNvPr id="151" name="Google Shape;151;p27"/>
          <p:cNvPicPr preferRelativeResize="0"/>
          <p:nvPr/>
        </p:nvPicPr>
        <p:blipFill>
          <a:blip r:embed="rId4">
            <a:alphaModFix/>
          </a:blip>
          <a:stretch>
            <a:fillRect/>
          </a:stretch>
        </p:blipFill>
        <p:spPr>
          <a:xfrm>
            <a:off x="413075" y="2118850"/>
            <a:ext cx="2857500" cy="2857500"/>
          </a:xfrm>
          <a:prstGeom prst="rect">
            <a:avLst/>
          </a:prstGeom>
          <a:noFill/>
          <a:ln>
            <a:noFill/>
          </a:ln>
        </p:spPr>
      </p:pic>
      <p:sp>
        <p:nvSpPr>
          <p:cNvPr id="152" name="Google Shape;152;p27"/>
          <p:cNvSpPr txBox="1"/>
          <p:nvPr/>
        </p:nvSpPr>
        <p:spPr>
          <a:xfrm>
            <a:off x="4456000" y="926125"/>
            <a:ext cx="4326000" cy="18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lt1"/>
                </a:solidFill>
                <a:latin typeface="Roboto"/>
                <a:ea typeface="Roboto"/>
                <a:cs typeface="Roboto"/>
                <a:sym typeface="Roboto"/>
              </a:rPr>
              <a:t>If there’s anything preventing you from enjoying our sessions, please let our Inclusions Officer know. You can contact them by email or fill in the form below:</a:t>
            </a:r>
            <a:endParaRPr>
              <a:solidFill>
                <a:schemeClr val="lt1"/>
              </a:solidFill>
              <a:latin typeface="Roboto"/>
              <a:ea typeface="Roboto"/>
              <a:cs typeface="Roboto"/>
              <a:sym typeface="Roboto"/>
            </a:endParaRPr>
          </a:p>
          <a:p>
            <a:pPr indent="0" lvl="0" marL="0" rtl="0" algn="l">
              <a:lnSpc>
                <a:spcPct val="115000"/>
              </a:lnSpc>
              <a:spcBef>
                <a:spcPts val="1600"/>
              </a:spcBef>
              <a:spcAft>
                <a:spcPts val="0"/>
              </a:spcAft>
              <a:buNone/>
            </a:pPr>
            <a:r>
              <a:rPr lang="en" u="sng">
                <a:solidFill>
                  <a:schemeClr val="accent5"/>
                </a:solidFill>
                <a:latin typeface="Roboto"/>
                <a:ea typeface="Roboto"/>
                <a:cs typeface="Roboto"/>
                <a:sym typeface="Roboto"/>
                <a:hlinkClick r:id="rId5">
                  <a:extLst>
                    <a:ext uri="{A12FA001-AC4F-418D-AE19-62706E023703}">
                      <ahyp:hlinkClr val="tx"/>
                    </a:ext>
                  </a:extLst>
                </a:hlinkClick>
              </a:rPr>
              <a:t>jgledhill2@sheffield.ac.uk</a:t>
            </a:r>
            <a:endParaRPr>
              <a:solidFill>
                <a:schemeClr val="lt1"/>
              </a:solidFill>
              <a:latin typeface="Roboto"/>
              <a:ea typeface="Roboto"/>
              <a:cs typeface="Roboto"/>
              <a:sym typeface="Roboto"/>
            </a:endParaRPr>
          </a:p>
          <a:p>
            <a:pPr indent="0" lvl="0" marL="0" rtl="0" algn="l">
              <a:lnSpc>
                <a:spcPct val="115000"/>
              </a:lnSpc>
              <a:spcBef>
                <a:spcPts val="1600"/>
              </a:spcBef>
              <a:spcAft>
                <a:spcPts val="1600"/>
              </a:spcAft>
              <a:buNone/>
            </a:pPr>
            <a:r>
              <a:rPr lang="en" u="sng">
                <a:solidFill>
                  <a:schemeClr val="accent5"/>
                </a:solidFill>
                <a:latin typeface="Roboto"/>
                <a:ea typeface="Roboto"/>
                <a:cs typeface="Roboto"/>
                <a:sym typeface="Roboto"/>
                <a:hlinkClick r:id="rId6">
                  <a:extLst>
                    <a:ext uri="{A12FA001-AC4F-418D-AE19-62706E023703}">
                      <ahyp:hlinkClr val="tx"/>
                    </a:ext>
                  </a:extLst>
                </a:hlinkClick>
              </a:rPr>
              <a:t>https://forms.gle/Qct6Wyfesv8dWmej7</a:t>
            </a:r>
            <a:endParaRPr/>
          </a:p>
        </p:txBody>
      </p:sp>
      <p:pic>
        <p:nvPicPr>
          <p:cNvPr id="153" name="Google Shape;153;p27"/>
          <p:cNvPicPr preferRelativeResize="0"/>
          <p:nvPr/>
        </p:nvPicPr>
        <p:blipFill>
          <a:blip r:embed="rId7">
            <a:alphaModFix/>
          </a:blip>
          <a:stretch>
            <a:fillRect/>
          </a:stretch>
        </p:blipFill>
        <p:spPr>
          <a:xfrm>
            <a:off x="4572000" y="2837550"/>
            <a:ext cx="2138801" cy="21388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265500" y="238625"/>
            <a:ext cx="4115700" cy="2476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Upcoming Sessions</a:t>
            </a:r>
            <a:endParaRPr/>
          </a:p>
        </p:txBody>
      </p:sp>
      <p:sp>
        <p:nvSpPr>
          <p:cNvPr id="159" name="Google Shape;159;p2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What’s up next?</a:t>
            </a:r>
            <a:endParaRPr/>
          </a:p>
          <a:p>
            <a:pPr indent="0" lvl="0" marL="0" rtl="0" algn="ctr">
              <a:spcBef>
                <a:spcPts val="0"/>
              </a:spcBef>
              <a:spcAft>
                <a:spcPts val="0"/>
              </a:spcAft>
              <a:buNone/>
            </a:pPr>
            <a:r>
              <a:rPr lang="en" sz="1900">
                <a:solidFill>
                  <a:srgbClr val="09CECE"/>
                </a:solidFill>
              </a:rPr>
              <a:t>www.shefesh.com/sessions</a:t>
            </a:r>
            <a:endParaRPr sz="1900">
              <a:solidFill>
                <a:srgbClr val="09CECE"/>
              </a:solidFill>
            </a:endParaRPr>
          </a:p>
        </p:txBody>
      </p:sp>
      <p:sp>
        <p:nvSpPr>
          <p:cNvPr id="160" name="Google Shape;160;p2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24th November:</a:t>
            </a:r>
            <a:r>
              <a:rPr lang="en"/>
              <a:t> CompSoc collab for Hackathon</a:t>
            </a:r>
            <a:endParaRPr/>
          </a:p>
          <a:p>
            <a:pPr indent="0" lvl="0" marL="0" rtl="0" algn="l">
              <a:spcBef>
                <a:spcPts val="1600"/>
              </a:spcBef>
              <a:spcAft>
                <a:spcPts val="1600"/>
              </a:spcAft>
              <a:buClr>
                <a:schemeClr val="dk1"/>
              </a:buClr>
              <a:buSzPts val="1100"/>
              <a:buFont typeface="Arial"/>
              <a:buNone/>
            </a:pPr>
            <a:r>
              <a:rPr b="1" lang="en"/>
              <a:t>8th December:</a:t>
            </a:r>
            <a:r>
              <a:rPr lang="en"/>
              <a:t> </a:t>
            </a:r>
            <a:r>
              <a:rPr lang="en"/>
              <a:t>Lock Picking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Any Questions?</a:t>
            </a:r>
            <a:endParaRPr/>
          </a:p>
        </p:txBody>
      </p:sp>
      <p:sp>
        <p:nvSpPr>
          <p:cNvPr id="166" name="Google Shape;166;p29"/>
          <p:cNvSpPr txBox="1"/>
          <p:nvPr/>
        </p:nvSpPr>
        <p:spPr>
          <a:xfrm>
            <a:off x="2740350" y="4208475"/>
            <a:ext cx="3663300" cy="57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300">
                <a:solidFill>
                  <a:srgbClr val="09CECE"/>
                </a:solidFill>
                <a:latin typeface="Roboto"/>
                <a:ea typeface="Roboto"/>
                <a:cs typeface="Roboto"/>
                <a:sym typeface="Roboto"/>
              </a:rPr>
              <a:t>www.shefesh.com</a:t>
            </a:r>
            <a:endParaRPr sz="2300">
              <a:solidFill>
                <a:srgbClr val="09CECE"/>
              </a:solidFill>
              <a:latin typeface="Roboto"/>
              <a:ea typeface="Roboto"/>
              <a:cs typeface="Roboto"/>
              <a:sym typeface="Roboto"/>
            </a:endParaRPr>
          </a:p>
          <a:p>
            <a:pPr indent="0" lvl="0" marL="0" rtl="0" algn="ctr">
              <a:spcBef>
                <a:spcPts val="0"/>
              </a:spcBef>
              <a:spcAft>
                <a:spcPts val="0"/>
              </a:spcAft>
              <a:buNone/>
            </a:pPr>
            <a:r>
              <a:rPr lang="en" sz="1800">
                <a:solidFill>
                  <a:schemeClr val="lt1"/>
                </a:solidFill>
                <a:latin typeface="Roboto"/>
                <a:ea typeface="Roboto"/>
                <a:cs typeface="Roboto"/>
                <a:sym typeface="Roboto"/>
              </a:rPr>
              <a:t>Thanks for coming!</a:t>
            </a:r>
            <a:endParaRPr sz="1800">
              <a:solidFill>
                <a:schemeClr val="lt1"/>
              </a:solidFill>
              <a:latin typeface="Roboto"/>
              <a:ea typeface="Roboto"/>
              <a:cs typeface="Roboto"/>
              <a:sym typeface="Roboto"/>
            </a:endParaRPr>
          </a:p>
        </p:txBody>
      </p:sp>
      <p:pic>
        <p:nvPicPr>
          <p:cNvPr id="167" name="Google Shape;167;p29"/>
          <p:cNvPicPr preferRelativeResize="0"/>
          <p:nvPr/>
        </p:nvPicPr>
        <p:blipFill>
          <a:blip r:embed="rId3">
            <a:alphaModFix/>
          </a:blip>
          <a:stretch>
            <a:fillRect/>
          </a:stretch>
        </p:blipFill>
        <p:spPr>
          <a:xfrm>
            <a:off x="3225075" y="1285325"/>
            <a:ext cx="2693850" cy="269960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p3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https://tryhackme.com/room/pentestingfundamentals</a:t>
            </a:r>
            <a:endParaRPr/>
          </a:p>
          <a:p>
            <a:pPr indent="0" lvl="0" marL="0" rtl="0" algn="l">
              <a:spcBef>
                <a:spcPts val="1600"/>
              </a:spcBef>
              <a:spcAft>
                <a:spcPts val="0"/>
              </a:spcAft>
              <a:buNone/>
            </a:pPr>
            <a:r>
              <a:rPr lang="en" u="sng">
                <a:solidFill>
                  <a:schemeClr val="hlink"/>
                </a:solidFill>
                <a:hlinkClick r:id="rId4"/>
              </a:rPr>
              <a:t>https://en.wikipedia.org/wiki/Penetration_test#Tools</a:t>
            </a:r>
            <a:endParaRPr/>
          </a:p>
          <a:p>
            <a:pPr indent="0" lvl="0" marL="0" rtl="0" algn="l">
              <a:spcBef>
                <a:spcPts val="1600"/>
              </a:spcBef>
              <a:spcAft>
                <a:spcPts val="0"/>
              </a:spcAft>
              <a:buNone/>
            </a:pPr>
            <a:r>
              <a:rPr lang="en" u="sng">
                <a:solidFill>
                  <a:schemeClr val="hlink"/>
                </a:solidFill>
                <a:hlinkClick r:id="rId5"/>
              </a:rPr>
              <a:t>https://owasp.org/Top10/2025/0x00_2025-Introduction/</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u="sng">
                <a:solidFill>
                  <a:schemeClr val="hlink"/>
                </a:solidFill>
                <a:hlinkClick r:id="rId6"/>
              </a:rPr>
              <a:t>https://tryhackme.com/room/pentestingfundamentals</a:t>
            </a:r>
            <a:endParaRPr/>
          </a:p>
          <a:p>
            <a:pPr indent="0" lvl="0" marL="0" rtl="0" algn="l">
              <a:spcBef>
                <a:spcPts val="1600"/>
              </a:spcBef>
              <a:spcAft>
                <a:spcPts val="1600"/>
              </a:spcAft>
              <a:buNone/>
            </a:pPr>
            <a:r>
              <a:t/>
            </a:r>
            <a:endParaRPr/>
          </a:p>
        </p:txBody>
      </p:sp>
      <p:sp>
        <p:nvSpPr>
          <p:cNvPr id="173" name="Google Shape;173;p3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7"/>
              </a:rPr>
              <a:t>https://tryhackme.com/module/pentestingtool</a:t>
            </a:r>
            <a:endParaRPr/>
          </a:p>
          <a:p>
            <a:pPr indent="0" lvl="0" marL="0" rtl="0" algn="l">
              <a:spcBef>
                <a:spcPts val="1600"/>
              </a:spcBef>
              <a:spcAft>
                <a:spcPts val="1600"/>
              </a:spcAft>
              <a:buNone/>
            </a:pPr>
            <a:r>
              <a:t/>
            </a:r>
            <a:endParaRPr/>
          </a:p>
        </p:txBody>
      </p:sp>
      <p:sp>
        <p:nvSpPr>
          <p:cNvPr id="174" name="Google Shape;174;p30"/>
          <p:cNvSpPr txBox="1"/>
          <p:nvPr>
            <p:ph type="title"/>
          </p:nvPr>
        </p:nvSpPr>
        <p:spPr>
          <a:xfrm>
            <a:off x="863250" y="95700"/>
            <a:ext cx="74175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Links (for Harry)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